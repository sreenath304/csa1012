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29184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17957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Transformer Models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self-attention reshaped machine understanding of human language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architecture, applications, and the road ahead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 TO THE EMERGING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branch of AI that enables machines to read, interpret, and generate human language.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2017 ("Attention Is All You Need") replaced older sequential models with a design built entirely on attention — letting machines weigh every word against every other word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the Transformer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was introduced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4343400"/>
            <a:ext cx="0" cy="137160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4343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4892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GPT, BERT, T5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5349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nearly every modern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4343400"/>
            <a:ext cx="0" cy="137160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4343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4754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1508760"/>
            <a:ext cx="4343400" cy="438912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196596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94192" y="196596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196596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9153144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12096" y="196596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E3A6E"/>
          </a:solidFill>
          <a:ln/>
        </p:spPr>
      </p:sp>
      <p:sp>
        <p:nvSpPr>
          <p:cNvPr id="24" name="Text 22"/>
          <p:cNvSpPr/>
          <p:nvPr/>
        </p:nvSpPr>
        <p:spPr>
          <a:xfrm>
            <a:off x="9912096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71048" y="1965960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2E3A6E"/>
          </a:solidFill>
          <a:ln/>
        </p:spPr>
      </p:sp>
      <p:sp>
        <p:nvSpPr>
          <p:cNvPr id="26" name="Text 24"/>
          <p:cNvSpPr/>
          <p:nvPr/>
        </p:nvSpPr>
        <p:spPr>
          <a:xfrm>
            <a:off x="10671048" y="19659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7964424" y="2350008"/>
            <a:ext cx="758952" cy="0"/>
          </a:xfrm>
          <a:prstGeom prst="line">
            <a:avLst/>
          </a:prstGeom>
          <a:noFill/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23376" y="2350008"/>
            <a:ext cx="9144" cy="0"/>
          </a:xfrm>
          <a:prstGeom prst="line">
            <a:avLst/>
          </a:prstGeom>
          <a:noFill/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23376" y="2350008"/>
            <a:ext cx="758952" cy="0"/>
          </a:xfrm>
          <a:prstGeom prst="line">
            <a:avLst/>
          </a:prstGeom>
          <a:noFill/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23376" y="2350008"/>
            <a:ext cx="1517904" cy="0"/>
          </a:xfrm>
          <a:prstGeom prst="line">
            <a:avLst/>
          </a:prstGeom>
          <a:noFill/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23376" y="2350008"/>
            <a:ext cx="2276856" cy="0"/>
          </a:xfrm>
          <a:prstGeom prst="line">
            <a:avLst/>
          </a:prstGeom>
          <a:noFill/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7432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"cat" directly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every other word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the distance between them.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35240" y="3794760"/>
            <a:ext cx="37033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0233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2017</a:t>
            </a:r>
            <a:endParaRPr lang="en-US" sz="1050" dirty="0"/>
          </a:p>
        </p:txBody>
      </p:sp>
      <p:pic>
        <p:nvPicPr>
          <p:cNvPr id="35" name="Image 0" descr="icon_nl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074920"/>
            <a:ext cx="502920" cy="5029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NEED AND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Needed a New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sequence models (RNNs, LSTMs) processed text one word at a time — creating hard limits Transformers were built to solve.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_at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06324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Bottleneck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213969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process words one-by-one, so training cannot be parallelized — making it slow on long documents and large datasets.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10128" y="20574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p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468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06324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Long-Range Dependencies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11296" y="3703320"/>
            <a:ext cx="213969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from early words fades by the time an RNN reaches later ones, causing "forgetting" over long sentences.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071616" y="20574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0216" y="2331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_compon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468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306324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Context Modeling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72784" y="3703320"/>
            <a:ext cx="213969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models struggled to capture how a word's meaning depends on distant words elsewhere in the sentence.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8833104" y="20574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61704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_tr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24688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34272" y="306324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Demands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34272" y="3703320"/>
            <a:ext cx="213969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data and compute availability needed an architecture that scales efficiently with parallel hardware (GPUs/TPUs).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WORKING PRINCIPLE 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Encoder–Decoder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Transformer stacks identical encoder and decoder blocks, connected through attention.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81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659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 + Positional Encoding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264261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426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3319272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1927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Normalize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399592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959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467258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725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Normalize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02352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581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9659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9659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Embedding + Positional Encoding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264261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6426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Self-Attention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3319272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31927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Attention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399592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9959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20840" y="467258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6725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Softmax → Output Probabilities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32120" y="3383280"/>
            <a:ext cx="50292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 flow up through the encoder to build contextual representations; the decoder attends to them while generating output tokens one at a time.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KEY COMPONENTS AND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 of a Transformer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t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&amp; Embeddings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subword tokens, then mapped to dense numerical vectors the model can process.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p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8196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Encoding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53128" y="228600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attention has no built-in order, sinusoidal or learned position vectors are added so word order is preserved.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1709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att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18196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1673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Self-Attention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56448" y="2286000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"heads" learn different relationships in parallel — syntax, coreference, meaning — then combine them.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358444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785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9534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Layers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361688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position-wise fully connected network refines each token's representation after attention is applied.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251960" y="358444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53128" y="3785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_compon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89534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Norm &amp; Residuals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53128" y="4361688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and normalization stabilize training across many stacked layers, preventing signal loss.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7955280" y="358444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56448" y="3785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_c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389534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32520" y="3749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Output Layer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56448" y="4361688"/>
            <a:ext cx="3118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linear + softmax layer converts decoder representations into a probability distribution over the vocabulary.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APPLICATIONS / REAL-WORLD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Transformers Are Used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4592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0756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assistants like ChatGPT and Claude generate fluent, context-aware responses.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206240" y="1508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407408" y="164592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20756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and DeepL use Transformers for near-human-quality translation.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863840" y="1508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64592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Summarization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5008" y="2075688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 long articles, legal documents, or research papers into concise summaries.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6440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Text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694176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reviews, social media, and support tickets by tone and intent.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206240" y="31272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326440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07408" y="3694176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GitHub Copilot autocomplete and generate code from natural-language prompts.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863840" y="312724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065008" y="326440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Recommendations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5008" y="3694176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engines and recommender systems use Transformer embeddings for relevance.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ADVANTAGES AND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Trade-offs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ad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5146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training — dramatically faster than RNNs on modern hardware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1248" y="34747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3558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dependencies via direct attention between any two tokens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" y="431596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19709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pretrain once, fine-tune for many downstream tasks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" y="51572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503834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results across language, vision, and multimodal tasks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150876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17" name="Shape 14"/>
          <p:cNvSpPr/>
          <p:nvPr/>
        </p:nvSpPr>
        <p:spPr>
          <a:xfrm>
            <a:off x="662940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icon_l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1109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801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647688" y="263347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7"/>
          <p:cNvSpPr/>
          <p:nvPr/>
        </p:nvSpPr>
        <p:spPr>
          <a:xfrm>
            <a:off x="6885432" y="25146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compute/memory cost with sequence length (self-attention scales O(n²))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47688" y="34747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19"/>
          <p:cNvSpPr/>
          <p:nvPr/>
        </p:nvSpPr>
        <p:spPr>
          <a:xfrm>
            <a:off x="6885432" y="33558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huge datasets and compute to train from scratch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47688" y="431596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1"/>
          <p:cNvSpPr/>
          <p:nvPr/>
        </p:nvSpPr>
        <p:spPr>
          <a:xfrm>
            <a:off x="6885432" y="419709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facts and lacks true grounded understanding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47688" y="515721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885432" y="503834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 and high inference cost at scale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RECENT DEVELOPMENTS AND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359152"/>
            <a:ext cx="9418320" cy="0"/>
          </a:xfrm>
          <a:prstGeom prst="line">
            <a:avLst/>
          </a:prstGeom>
          <a:noFill/>
          <a:ln w="25400">
            <a:solidFill>
              <a:srgbClr val="3A46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258568"/>
            <a:ext cx="201168" cy="20116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72384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encoder–decoder architecture for machine translation.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25596" y="2258568"/>
            <a:ext cx="201168" cy="20116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038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0322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GPT-1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1780" y="3072384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+ fine-tuning paradigm popularized for NLP tasks.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2258568"/>
            <a:ext cx="201168" cy="20116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3072384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175B parameters shows strong few-shot learning.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34756" y="2258568"/>
            <a:ext cx="201168" cy="20116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954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2022–23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1238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LLMs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20940" y="3072384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Instruction-tuned, RLHF-aligned chat models reach the public.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89336" y="2258568"/>
            <a:ext cx="201168" cy="20116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6696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&amp; Agentic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0" y="3072384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reason across text, images, and tools; longer context windows.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1A235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5212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trends: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attention variants (sparse, linear), mixture-of-experts scaling, retrieval-augmented generation (RAG), longer context windows, and multimodal Transformers spanning text, vision, and audio.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CHALLENGES AND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Challenges, Future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Energy Cost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serving large Transformers demands massive GPU/TPU clusters and energy.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72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&amp; Fairness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387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inherit and amplify biases present in their training data.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4288536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799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7457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model produced a given output remains difficult at scale.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87452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Architectures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and linear attention to reduce quadratic cost and enable longer context.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55080" y="3081528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172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Reasoning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29400" y="35387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models handling text, image, audio, and video together.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4288536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3799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Smaller, Specialized Models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29400" y="47457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and domain-tuned models for on-device and edge deployment.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CASE STUDY /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BERT for Search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2019, Google rolled out BERT in Search — one of the largest real-world deployments of a Transformer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UNDERSTANDING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"2019 brazil traveler to usa need a visa"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2423160" cy="13716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BERT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the word "to" — matched pages about US citizens traveling to Brazil (wrong direction).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6F3E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5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prepositions and context — correctly surfaces visa info for Brazilians traveling to the US.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reads a sentence bidirectionally — attending to words before and after a given token — so small function words like "to" and "for" change the model's understanding of the whole query.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96596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176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LAUNCH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26700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English search queries affected at launch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858000" y="34015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34198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biggest leaps in Search ranking in years, per Google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858000" y="41513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21040" y="41696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BERT-based ranking later expanded to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858000" y="4974336"/>
            <a:ext cx="457200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5157216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pretrained Transformer language understanding can be dropped into existing large-scale systems to meaningfully improve real-world outcomes.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84048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CONCLUSION AND 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99616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replaced sequential processing with parallel self-attention, solving the speed and long-range-dependency limits of RNNs.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68296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now power the leading systems in translation, conversation, code generation, and search.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36976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interpretability, and multimodal reasoning are the key frontiers for the next generation of models.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66751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pic>
        <p:nvPicPr>
          <p:cNvPr id="15" name="Image 0" descr="icon_concl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44165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turned "attention" into the foundation of modern AI language understanding.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A2354"/>
          </a:solidFill>
          <a:ln/>
        </p:spPr>
      </p:sp>
      <p:pic>
        <p:nvPicPr>
          <p:cNvPr id="18" name="Image 1" descr="icon_r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2104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863840" y="249631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3500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"Attention Is All You Need." NeurIPS, 2017.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863840" y="32278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8046720" y="30815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Devlin, J. et al. "BERT: Pre-training of Deep Bidirectional Transformers." NAACL, 2019.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863840" y="39593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8046720" y="38130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T. et al. "Language Models are Few-Shot Learners" (GPT-3). NeurIPS, 2020.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863840" y="46908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8046720" y="45445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Blog — "Understanding Searches Better Than Ever Before" (BERT in Search), 2019.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863840" y="542239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8046720" y="52760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Radford, A. et al. "Improving Language Understanding by Generative Pre-Training" (GPT-1), 2018.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with Transformer Models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2026-08-21T06:28:43Z</dcterms:created>
  <dcterms:modified xsi:type="dcterms:W3CDTF">2026-08-21T06:28:43Z</dcterms:modified>
</cp:coreProperties>
</file>